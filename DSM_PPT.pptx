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4A93-6C3E-3744-76DC-1B8B37885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38DA-BDAC-BD0B-3C92-9594CF6F4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AC6A1-4CCC-F9B1-BAA8-6F03CF49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CA50-8847-7C2F-28FA-32BBD51D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8D4B-2BA3-B699-7F28-033F48BB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7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692A-DD41-1E3B-253A-F2E5E273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7CE4E-C2F4-1137-856F-B494EE390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A642-28E6-1FFF-622E-C6FE36E7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D808-1F97-B2E4-8CE7-44E7CDBE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95016-BC84-EE5D-EAD1-ED5F3DB9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1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E979-1DFE-21C6-CDE6-FE6FCEAB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F2B7A-3A5C-2792-1337-6477F6A6D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A4A13-35F6-DD10-7500-565C6085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493A0-3A66-FF0A-300B-8284863F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E1C49-CDC3-E587-834C-A58A35F1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59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31EC1-8683-AEDF-8CC0-8759E641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14223-E9A2-320C-69A5-94C9B55B8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F249-2B3E-E325-B902-2E306E5E5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68AA6-D303-342A-8C09-BFAEF6C77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6DE4B-9034-6033-FBB3-FAA29E1D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1C658-B47B-7EDC-5EC2-77B19B80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2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EB06-78DC-9711-8F18-2E4D0D025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E9F9C-F0A0-A852-84A3-E77EB7F1A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BE6A-5DF4-1DCF-58D9-962D8570E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A3264-C79D-8F66-DFB9-5FB62E084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05631-A625-CFF1-D95F-BE8D9C847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7E646-00FB-C447-1F4C-62156CEB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BB3BB-6C9B-5C71-42A4-BA221842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C037C-3346-9146-49DC-351D1CFA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5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3361-CBB6-8B67-9215-6FE1396E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52C86-72D4-E354-C125-9A865056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E52C2-7D58-83E1-C441-CA14EF545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9CF37-29EB-4F6A-BFF4-6A5EE593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41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2A227-174F-551A-9CA8-7C23507D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34CA4-F6E7-7F1E-1A51-B395F878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EC3F4-5B2E-5364-C326-CFECF4BB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21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B762-6613-A570-A336-5DCBFCAB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F0C7-AD4D-464C-5174-35020996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74399-7FAA-4726-9585-9483C6066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E72EA-AE6C-E5EA-77C2-311CDC10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774B-77AD-299E-1CB5-FC0FF063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02D0C-1DB1-07CB-CB33-C2BD5356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0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9B4F-BF5F-72D7-47ED-FACE137F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1AA94-8489-3D5F-FCDB-84EA01BE6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81ED4-56BB-159D-8F01-5BCA6181D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84823-263B-EAA5-42FC-91EE064C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130ED-E9FB-B2E5-CE10-A65D3071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BD67C-6DD3-8F7D-E9F2-B3DACB63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1D0A-A402-C970-5ADF-F39145F0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777C9-B099-1F97-6624-C193E3B01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C051-2B82-D446-5BEB-7D11AE47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817D1-AA0E-58BC-D0DD-5FDE8101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498DC-B859-A64E-A7CB-4AFA5C42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1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C931F-EF12-8888-8B0F-2C63A4E2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EDF0-4602-010F-111F-E47ABCB8D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300D-67D5-BCC5-46D9-F9CCB457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14EC9-8B12-26D5-EAD3-963982CB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A7934-0D15-47D5-F860-A96C24EB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25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FDC14-7EEC-879C-6F15-BF5AA56A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E234A-72AA-151F-EE49-EBCA08A1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88C0-850E-C49A-8D98-0295A66CF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142C9-10B2-4DDF-B3A5-59C410E7A87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39ED-3104-C02F-92A7-F476CB963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EA3A7-2DD3-D439-CFEA-F6D6A8D3B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4CC19-C8D6-4791-838E-6D4F3280C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81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C40C-ED85-7371-FAAB-8F71709CB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9144000" cy="3205163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Bookman Old Style" panose="02050604050505020204" pitchFamily="18" charset="0"/>
              </a:rPr>
              <a:t>BMS College of Engineering</a:t>
            </a:r>
            <a:br>
              <a:rPr lang="en-US" sz="4000" b="1" dirty="0">
                <a:latin typeface="Bookman Old Style" panose="02050604050505020204" pitchFamily="18" charset="0"/>
              </a:rPr>
            </a:br>
            <a:r>
              <a:rPr lang="en-US" sz="1600" dirty="0" err="1">
                <a:latin typeface="Bookman Old Style" panose="02050604050505020204" pitchFamily="18" charset="0"/>
              </a:rPr>
              <a:t>Mtech</a:t>
            </a:r>
            <a:br>
              <a:rPr lang="en-US" sz="1600" b="1" dirty="0">
                <a:latin typeface="Bookman Old Style" panose="02050604050505020204" pitchFamily="18" charset="0"/>
              </a:rPr>
            </a:br>
            <a:r>
              <a:rPr lang="en-US" sz="1600" b="1" dirty="0">
                <a:latin typeface="Bookman Old Style" panose="02050604050505020204" pitchFamily="18" charset="0"/>
              </a:rPr>
              <a:t>MCS103</a:t>
            </a:r>
            <a:br>
              <a:rPr lang="en-US" sz="1600" b="1" dirty="0">
                <a:latin typeface="Bookman Old Style" panose="02050604050505020204" pitchFamily="18" charset="0"/>
              </a:rPr>
            </a:br>
            <a:r>
              <a:rPr lang="en-US" sz="1600" dirty="0">
                <a:latin typeface="Bookman Old Style" panose="02050604050505020204" pitchFamily="18" charset="0"/>
              </a:rPr>
              <a:t>Presentation on</a:t>
            </a: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3200" dirty="0">
                <a:latin typeface="Bookman Old Style" panose="02050604050505020204" pitchFamily="18" charset="0"/>
              </a:rPr>
              <a:t>Loan Defaulter Prediction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5E08D-78AE-C557-3E3C-BA5CCC262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048000" cy="1655762"/>
          </a:xfrm>
        </p:spPr>
        <p:txBody>
          <a:bodyPr numCol="1">
            <a:norm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Under Guidance of,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Prof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D3A0154-FBE1-8E2B-6964-BF6CD3E9EAFD}"/>
              </a:ext>
            </a:extLst>
          </p:cNvPr>
          <p:cNvSpPr txBox="1">
            <a:spLocks/>
          </p:cNvSpPr>
          <p:nvPr/>
        </p:nvSpPr>
        <p:spPr>
          <a:xfrm>
            <a:off x="7620000" y="3602038"/>
            <a:ext cx="3048000" cy="217900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ookman Old Style" panose="02050604050505020204" pitchFamily="18" charset="0"/>
              </a:rPr>
              <a:t>Presented By,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Hemanth B G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1BM25SCS001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P Yogesh Nayaka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1Bm25SCS003</a:t>
            </a:r>
          </a:p>
        </p:txBody>
      </p:sp>
    </p:spTree>
    <p:extLst>
      <p:ext uri="{BB962C8B-B14F-4D97-AF65-F5344CB8AC3E}">
        <p14:creationId xmlns:p14="http://schemas.microsoft.com/office/powerpoint/2010/main" val="30510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FF4F-FD92-39EC-769B-0D7B263F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Agenda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61B06-9A2D-E21C-6BA7-D692D9D65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Problem Statement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Dataset Overview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Data Preprocessing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Exploratory Data Analysis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Model Selection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Model Training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Bookman Old Style" panose="02050604050505020204" pitchFamily="18" charset="0"/>
              </a:rPr>
              <a:t>Model Evaluation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Bookman Old Style" panose="020506040505050202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867650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984C-46E3-93B9-30B7-23657C07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Problem Statement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F862-E453-AEA3-4983-7B212181F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Loan default is a major financial risk for banks.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Manual risk assessment is slow and biased.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Machine Learning can predict defaulters using historical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80845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B688-5B72-4637-6F36-93D849C3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E03-B1C3-10FB-CD23-B83C740DC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Bookman Old Style" panose="02050604050505020204" pitchFamily="18" charset="0"/>
              </a:rPr>
              <a:t>Dataset size: ~32,000 records, 12 features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Bookman Old Style" panose="02050604050505020204" pitchFamily="18" charset="0"/>
              </a:rPr>
              <a:t>Target variable: </a:t>
            </a:r>
            <a:r>
              <a:rPr lang="en-US" dirty="0" err="1">
                <a:latin typeface="Bookman Old Style" panose="02050604050505020204" pitchFamily="18" charset="0"/>
              </a:rPr>
              <a:t>loan_status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Bookman Old Style" panose="02050604050505020204" pitchFamily="18" charset="0"/>
              </a:rPr>
              <a:t>Important Features: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Bookman Old Style" panose="02050604050505020204" pitchFamily="18" charset="0"/>
              </a:rPr>
              <a:t>Source: Kaggle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7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CE57-8CEB-ADD2-D440-A94C5CF4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Dataset Overview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C78C-0160-B015-1AD3-5BA51CF93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Feature </a:t>
            </a:r>
            <a:r>
              <a:rPr lang="en-US" dirty="0" err="1">
                <a:latin typeface="Bookman Old Style" panose="02050604050505020204" pitchFamily="18" charset="0"/>
              </a:rPr>
              <a:t>Explaination</a:t>
            </a:r>
            <a:r>
              <a:rPr lang="en-US" dirty="0">
                <a:latin typeface="Bookman Old Style" panose="02050604050505020204" pitchFamily="18" charset="0"/>
              </a:rPr>
              <a:t>:</a:t>
            </a: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29B06F-B8CD-8819-0657-EC850ADD5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238556"/>
              </p:ext>
            </p:extLst>
          </p:nvPr>
        </p:nvGraphicFramePr>
        <p:xfrm>
          <a:off x="838200" y="2365045"/>
          <a:ext cx="11196702" cy="3834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238">
                  <a:extLst>
                    <a:ext uri="{9D8B030D-6E8A-4147-A177-3AD203B41FA5}">
                      <a16:colId xmlns:a16="http://schemas.microsoft.com/office/drawing/2014/main" val="441208464"/>
                    </a:ext>
                  </a:extLst>
                </a:gridCol>
                <a:gridCol w="2693988">
                  <a:extLst>
                    <a:ext uri="{9D8B030D-6E8A-4147-A177-3AD203B41FA5}">
                      <a16:colId xmlns:a16="http://schemas.microsoft.com/office/drawing/2014/main" val="2180992803"/>
                    </a:ext>
                  </a:extLst>
                </a:gridCol>
                <a:gridCol w="2830576">
                  <a:extLst>
                    <a:ext uri="{9D8B030D-6E8A-4147-A177-3AD203B41FA5}">
                      <a16:colId xmlns:a16="http://schemas.microsoft.com/office/drawing/2014/main" val="4655557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8225548"/>
                    </a:ext>
                  </a:extLst>
                </a:gridCol>
              </a:tblGrid>
              <a:tr h="5413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Feature</a:t>
                      </a:r>
                      <a:endParaRPr lang="en-IN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Description</a:t>
                      </a:r>
                      <a:endParaRPr lang="en-IN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Feature</a:t>
                      </a:r>
                      <a:endParaRPr lang="en-IN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Description</a:t>
                      </a:r>
                      <a:endParaRPr lang="en-IN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190875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Person_age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Age of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brrower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Person_income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Annual income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751242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Person_home_ownership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Type of home ownership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Person_emp_length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Employment Length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48971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Loan_intent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Purpose of loan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Loan_grade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Credit Grade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56899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Loan_amnt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Loan Amount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Loan_int_rate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Intrest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rate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725843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Loan_percent_income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Loan amount percentage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cb_person_default_on_file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Previous Default History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672201"/>
                  </a:ext>
                </a:extLst>
              </a:tr>
              <a:tr h="5488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Cb_person_cred_hist_length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Credit History length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76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41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7BDF-925C-3393-FF5C-5D7D6FE6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CB1C-E375-6C1D-6F3B-02458344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Check for missing and inconsistent values.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Convert categorical variables into factors.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Normalized Numerical Features.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Split data into Training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392394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98FE-7CDC-61AE-961E-3787B764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3A387-8165-469D-0A28-06D09B6D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Higher loan amount and interest rate increase default probability.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Borrowers with past defaulters are more likely to default again.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Lower income and shorter credit history show higher risk.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Certain loan intents show higher default rates.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E2B9-D78F-F84F-ED75-195BEAA6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Model Selection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132B8-13A9-6B68-E1FA-B7C79A398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Model using multiple decision trees.</a:t>
            </a:r>
          </a:p>
          <a:p>
            <a:r>
              <a:rPr lang="en-US" dirty="0"/>
              <a:t>High accuracy and robustness.</a:t>
            </a:r>
          </a:p>
          <a:p>
            <a:r>
              <a:rPr lang="en-US" dirty="0"/>
              <a:t>Handles non-linear relationships and feature interactions.</a:t>
            </a:r>
          </a:p>
          <a:p>
            <a:r>
              <a:rPr lang="en-US" dirty="0"/>
              <a:t>Reduces overfitting through bagging and random features selection.</a:t>
            </a:r>
          </a:p>
          <a:p>
            <a:r>
              <a:rPr lang="en-US" dirty="0"/>
              <a:t>Suitable for credit risk prediction task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86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56A3-9A2E-46A9-661D-168A37C2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Model 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FA08D-EB50-6673-1123-B9163F08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/>
              <a:t>Training Process</a:t>
            </a:r>
            <a:endParaRPr lang="en-IN" dirty="0"/>
          </a:p>
          <a:p>
            <a:pPr lvl="1">
              <a:lnSpc>
                <a:spcPct val="100000"/>
              </a:lnSpc>
            </a:pPr>
            <a:r>
              <a:rPr lang="en-IN" dirty="0"/>
              <a:t>Random Forest model trained using training dataset (80%).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Number of trees (</a:t>
            </a:r>
            <a:r>
              <a:rPr lang="en-IN" dirty="0" err="1"/>
              <a:t>ntree</a:t>
            </a:r>
            <a:r>
              <a:rPr lang="en-IN" dirty="0"/>
              <a:t>) = 200.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All predictor variables used for training.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Logistic Regression was implemented as a baseline model for comparison.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Tools Used</a:t>
            </a:r>
            <a:endParaRPr lang="en-IN" dirty="0"/>
          </a:p>
          <a:p>
            <a:pPr lvl="1">
              <a:lnSpc>
                <a:spcPct val="100000"/>
              </a:lnSpc>
            </a:pPr>
            <a:r>
              <a:rPr lang="en-IN" dirty="0"/>
              <a:t>R packages: caret, </a:t>
            </a:r>
            <a:r>
              <a:rPr lang="en-IN" dirty="0" err="1"/>
              <a:t>randomForest</a:t>
            </a:r>
            <a:r>
              <a:rPr lang="en-IN" dirty="0"/>
              <a:t>, </a:t>
            </a:r>
            <a:r>
              <a:rPr lang="en-IN" dirty="0" err="1"/>
              <a:t>pROC</a:t>
            </a:r>
            <a:r>
              <a:rPr lang="en-IN" dirty="0"/>
              <a:t>, </a:t>
            </a:r>
            <a:r>
              <a:rPr lang="en-IN" dirty="0" err="1"/>
              <a:t>tidyverse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66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B0BB-3E44-4EDB-4AC5-97C1C8B3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2083-D43C-D284-DD76-EC2DC7C0F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Evaluation Metrics</a:t>
            </a:r>
            <a:endParaRPr lang="en-IN" dirty="0"/>
          </a:p>
          <a:p>
            <a:pPr lvl="1"/>
            <a:r>
              <a:rPr lang="en-IN" dirty="0"/>
              <a:t>Confusion Matrix</a:t>
            </a:r>
          </a:p>
          <a:p>
            <a:pPr lvl="1"/>
            <a:r>
              <a:rPr lang="en-IN" dirty="0"/>
              <a:t>Accuracy</a:t>
            </a:r>
          </a:p>
          <a:p>
            <a:pPr lvl="1"/>
            <a:r>
              <a:rPr lang="en-IN" dirty="0"/>
              <a:t>Precision, Recall, and F1-score</a:t>
            </a:r>
          </a:p>
          <a:p>
            <a:pPr lvl="1"/>
            <a:r>
              <a:rPr lang="en-IN" dirty="0"/>
              <a:t>ROC Curve and AUC score</a:t>
            </a:r>
          </a:p>
          <a:p>
            <a:r>
              <a:rPr lang="en-IN" b="1" dirty="0"/>
              <a:t>Important Note</a:t>
            </a:r>
            <a:endParaRPr lang="en-IN" dirty="0"/>
          </a:p>
          <a:p>
            <a:pPr lvl="1"/>
            <a:r>
              <a:rPr lang="en-IN" dirty="0"/>
              <a:t>Accuracy alone is not sufficient due to class imbalance in default prediction.</a:t>
            </a:r>
          </a:p>
          <a:p>
            <a:pPr lvl="1"/>
            <a:r>
              <a:rPr lang="en-IN" dirty="0"/>
              <a:t>Recall and AUC are critical metrics for identifying defaulters.</a:t>
            </a:r>
          </a:p>
        </p:txBody>
      </p:sp>
    </p:spTree>
    <p:extLst>
      <p:ext uri="{BB962C8B-B14F-4D97-AF65-F5344CB8AC3E}">
        <p14:creationId xmlns:p14="http://schemas.microsoft.com/office/powerpoint/2010/main" val="352243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125F-298D-0C68-2AB5-A610479F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64675-9DFE-66A9-D03B-A57E50C40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Performance Summary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Random Forest achieved the best predictive performance.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High accuracy and AUC indicate strong classification capability.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model successfully distinguishes high-risk borrowers from low-risk borrowers.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Business Implication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Model can assist banks in automated credit risk assessment.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Helps reduce financial losses due to loan defaults.</a:t>
            </a:r>
          </a:p>
        </p:txBody>
      </p:sp>
    </p:spTree>
    <p:extLst>
      <p:ext uri="{BB962C8B-B14F-4D97-AF65-F5344CB8AC3E}">
        <p14:creationId xmlns:p14="http://schemas.microsoft.com/office/powerpoint/2010/main" val="3843239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443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Bookman Old Style</vt:lpstr>
      <vt:lpstr>Office Theme</vt:lpstr>
      <vt:lpstr>BMS College of Engineering Mtech MCS103 Presentation on Loan Defaulter Prediction</vt:lpstr>
      <vt:lpstr>Agenda</vt:lpstr>
      <vt:lpstr>Problem Statement</vt:lpstr>
      <vt:lpstr>Dataset Overview</vt:lpstr>
      <vt:lpstr>Dataset Overview</vt:lpstr>
      <vt:lpstr>Data Preprocessing</vt:lpstr>
      <vt:lpstr>Exploratory Data Analysis</vt:lpstr>
      <vt:lpstr>Model Selection</vt:lpstr>
      <vt:lpstr>Model Training</vt:lpstr>
      <vt:lpstr>Model Evaluation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2026-02-13T06:36:58Z</dcterms:created>
  <dcterms:modified xsi:type="dcterms:W3CDTF">2026-02-13T08:02:45Z</dcterms:modified>
</cp:coreProperties>
</file>